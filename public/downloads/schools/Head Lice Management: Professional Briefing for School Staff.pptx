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/>
        </p:spPr>
        <p:txBody>
          <a:bodyPr wrap="square" lIns="510286" tIns="850392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642938" y="1823442"/>
            <a:ext cx="2421564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731" b="1" spc="-3" kern="0" dirty="0">
                <a:solidFill>
                  <a:srgbClr val="FFFFFF"/>
                </a:solidFill>
              </a:rPr>
              <a:t>Head Lice</a:t>
            </a:r>
            <a:endParaRPr lang="en-US" sz="3731" dirty="0"/>
          </a:p>
        </p:txBody>
      </p:sp>
      <p:sp>
        <p:nvSpPr>
          <p:cNvPr id="7" name="Text 4"/>
          <p:cNvSpPr/>
          <p:nvPr/>
        </p:nvSpPr>
        <p:spPr>
          <a:xfrm>
            <a:off x="642938" y="2530673"/>
            <a:ext cx="350707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731" b="1" spc="-3" kern="0" dirty="0">
                <a:solidFill>
                  <a:srgbClr val="FFFFFF"/>
                </a:solidFill>
              </a:rPr>
              <a:t>Management</a:t>
            </a:r>
            <a:endParaRPr lang="en-US" sz="3731" dirty="0"/>
          </a:p>
        </p:txBody>
      </p:sp>
      <p:sp>
        <p:nvSpPr>
          <p:cNvPr id="8" name="Text 5"/>
          <p:cNvSpPr/>
          <p:nvPr/>
        </p:nvSpPr>
        <p:spPr>
          <a:xfrm>
            <a:off x="642938" y="3414713"/>
            <a:ext cx="3717847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A Professional Briefing for School Staff on Evidence-Led Triage and Protocol.</a:t>
            </a:r>
            <a:endParaRPr lang="en-US" sz="1704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4160118"/>
            <a:ext cx="2143125" cy="3404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551855"/>
            <a:ext cx="547428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2" kern="0" dirty="0">
                <a:solidFill>
                  <a:srgbClr val="2D3748"/>
                </a:solidFill>
              </a:rPr>
              <a:t>The Goal: Operational Clarity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0" y="1480542"/>
            <a:ext cx="3047981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040838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909167"/>
            <a:ext cx="219073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>
                    <a:alpha val="5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2661047"/>
            <a:ext cx="21907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Objective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145036"/>
            <a:ext cx="21907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Standardize our school's response to head lice using a single, repeatable framework for all staff.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47981" y="1480542"/>
            <a:ext cx="3048009" cy="366295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7"/>
          <p:cNvSpPr/>
          <p:nvPr/>
        </p:nvSpPr>
        <p:spPr>
          <a:xfrm>
            <a:off x="3476606" y="1909167"/>
            <a:ext cx="219075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5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3476606" y="2661047"/>
            <a:ext cx="219075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Why It Matters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476606" y="3145036"/>
            <a:ext cx="2190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Reduce parental anxiety, minimize classroom disruption, and eliminate the stigma associated with head lice.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95991" y="1480542"/>
            <a:ext cx="3047981" cy="366295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6524616" y="1909167"/>
            <a:ext cx="219073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5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6524616" y="2661047"/>
            <a:ext cx="21907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Our Tool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6524616" y="3145036"/>
            <a:ext cx="2190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Head Lice Checker (headlicechecker.com) provides the evidence-led triage support we need to make calm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99421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714375"/>
            <a:ext cx="3227859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02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642938" y="1596628"/>
            <a:ext cx="322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Observation,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Not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Diagnosis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42938" y="3253978"/>
            <a:ext cx="322785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90000"/>
                  </a:srgbClr>
                </a:solidFill>
              </a:rPr>
              <a:t>Professional boundaries ensure our response remains calm, evidence-led, and non-medical.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99421" y="0"/>
            <a:ext cx="4844579" cy="51435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21" y="816173"/>
            <a:ext cx="25717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56696" y="714375"/>
            <a:ext cx="31443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Staff Responsibility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5356696" y="1112639"/>
            <a:ext cx="31443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Monitor for persistent itching or visible signs during class; report suspected cases to the school office immediately.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921" y="232886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28121" y="2227064"/>
            <a:ext cx="31729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Boundary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5328121" y="2625328"/>
            <a:ext cx="31729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Teachers do not diagnose. We refer to the protocol and direct parents to professional triage via Head Lice Checker.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921" y="3841552"/>
            <a:ext cx="20002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99546" y="3739753"/>
            <a:ext cx="320151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Confidentiality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5299546" y="4138017"/>
            <a:ext cx="320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Treat all reports with high sensitivity. Avoid public mentions, classroom labeling, or identifying specific students.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428625"/>
            <a:ext cx="3747232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2D3748"/>
                </a:solidFill>
              </a:rPr>
              <a:t>Fact vs. Fiction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0" y="1266230"/>
            <a:ext cx="4572000" cy="193863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25191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907381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Live Lice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28625" y="2305645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Fact: They do not jump or fly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28625" y="2503884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Small moving insects that stay close to the scalp. Most commonly found near the nape of the neck or behind the ears.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0" y="1266230"/>
            <a:ext cx="4572000" cy="193863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525191"/>
            <a:ext cx="1714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00625" y="1907381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Nits (Eggs)</a:t>
            </a:r>
            <a:endParaRPr lang="en-US" sz="1602" dirty="0"/>
          </a:p>
        </p:txBody>
      </p:sp>
      <p:sp>
        <p:nvSpPr>
          <p:cNvPr id="12" name="Text 7"/>
          <p:cNvSpPr/>
          <p:nvPr/>
        </p:nvSpPr>
        <p:spPr>
          <a:xfrm>
            <a:off x="5000625" y="2305645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Fact: They are not dandruff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5000625" y="2503884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Oval-shaped and fixed to one side of the hair shaft. Unlike dandruff, they are difficult to flick away or slide off.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0" y="3426321"/>
            <a:ext cx="4572000" cy="1938635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8528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8625" y="4067473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Misidentification</a:t>
            </a:r>
            <a:endParaRPr lang="en-US" sz="1602" dirty="0"/>
          </a:p>
        </p:txBody>
      </p:sp>
      <p:sp>
        <p:nvSpPr>
          <p:cNvPr id="17" name="Text 11"/>
          <p:cNvSpPr/>
          <p:nvPr/>
        </p:nvSpPr>
        <p:spPr>
          <a:xfrm>
            <a:off x="428625" y="4465737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Dandruff, hairspray residue, and dry skin are frequently misread as lice, leading to unnecessary panic.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72000" y="3426321"/>
            <a:ext cx="4572000" cy="1938635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68528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00625" y="4067473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AI Triage</a:t>
            </a:r>
            <a:endParaRPr lang="en-US" sz="1602" dirty="0"/>
          </a:p>
        </p:txBody>
      </p:sp>
      <p:sp>
        <p:nvSpPr>
          <p:cNvPr id="21" name="Text 14"/>
          <p:cNvSpPr/>
          <p:nvPr/>
        </p:nvSpPr>
        <p:spPr>
          <a:xfrm>
            <a:off x="5000625" y="4465737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Use the AI Checker to help parents separate likely cases from lookalikes before escalating to clinical support.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428625"/>
            <a:ext cx="616433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2D3748"/>
                </a:solidFill>
              </a:rPr>
              <a:t>Communication Cadence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0" y="1480542"/>
            <a:ext cx="2289572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282428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2D3748">
                    <a:alpha val="30000"/>
                  </a:srgbClr>
                </a:solidFill>
              </a:rPr>
              <a:t>01</a:t>
            </a:r>
            <a:endParaRPr lang="en-US" sz="414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6285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2D3748"/>
                </a:solidFill>
              </a:rPr>
              <a:t>Notice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85750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Immediate, neutral notification to the relevant parent group as soon as exposure is identified.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2284214" y="1480542"/>
            <a:ext cx="2284214" cy="366295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7"/>
          <p:cNvSpPr/>
          <p:nvPr/>
        </p:nvSpPr>
        <p:spPr>
          <a:xfrm>
            <a:off x="2569964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FFFFFF">
                    <a:alpha val="30000"/>
                  </a:srgbClr>
                </a:solidFill>
              </a:rPr>
              <a:t>02</a:t>
            </a:r>
            <a:endParaRPr lang="en-US" sz="414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964" y="2862858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9964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</a:rPr>
              <a:t>Instruction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2569964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Direct parents to headlicechecker.com for home triage and practical next steps.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68428" y="1480542"/>
            <a:ext cx="2284214" cy="366295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1"/>
          <p:cNvSpPr/>
          <p:nvPr/>
        </p:nvSpPr>
        <p:spPr>
          <a:xfrm>
            <a:off x="4854178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FFFFFF">
                    <a:alpha val="30000"/>
                  </a:srgbClr>
                </a:solidFill>
              </a:rPr>
              <a:t>03</a:t>
            </a:r>
            <a:endParaRPr lang="en-US" sz="414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178" y="2862858"/>
            <a:ext cx="150019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54178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</a:rPr>
              <a:t>Reminder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4854178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Scheduled follow-up at Day 7 to ensure monitoring continues and treatment is effective.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6852642" y="1480542"/>
            <a:ext cx="2291358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9136856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2" name="Text 16"/>
          <p:cNvSpPr/>
          <p:nvPr/>
        </p:nvSpPr>
        <p:spPr>
          <a:xfrm>
            <a:off x="7143750" y="1909167"/>
            <a:ext cx="171450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2D3748">
                    <a:alpha val="30000"/>
                  </a:srgbClr>
                </a:solidFill>
              </a:rPr>
              <a:t>04</a:t>
            </a:r>
            <a:endParaRPr lang="en-US" sz="414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862858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43750" y="3207544"/>
            <a:ext cx="1714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2D3748"/>
                </a:solidFill>
              </a:rPr>
              <a:t>Escalation</a:t>
            </a:r>
            <a:endParaRPr lang="en-US" sz="1397" dirty="0"/>
          </a:p>
        </p:txBody>
      </p:sp>
      <p:sp>
        <p:nvSpPr>
          <p:cNvPr id="25" name="Text 18"/>
          <p:cNvSpPr/>
          <p:nvPr/>
        </p:nvSpPr>
        <p:spPr>
          <a:xfrm>
            <a:off x="7143750" y="3652242"/>
            <a:ext cx="17145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Referral to professional clinics for persistent cases or where uncertainty remains.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05910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714375"/>
            <a:ext cx="2234347" cy="18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Why a Structured Cadence Prevents Escalation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2828813"/>
            <a:ext cx="22343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A clear, consistent communication framework is key to effective head lice management, reducing panic and improving outcomes.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877410" y="585788"/>
            <a:ext cx="4623653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3877410" y="58578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60" y="76795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20335" y="714375"/>
            <a:ext cx="39092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Proactive Management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420335" y="1005483"/>
            <a:ext cx="39092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Early, clear communication reduces panic and allows for timely home checks, preventing widespread anxiety.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877410" y="1662708"/>
            <a:ext cx="4623653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877410" y="166270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860" y="1844873"/>
            <a:ext cx="250031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0341" y="1791295"/>
            <a:ext cx="38592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Consistent Messaging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470341" y="2082403"/>
            <a:ext cx="38592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Standardized notices and reminders eliminate confusion and build trust within the parent community.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3877410" y="2739628"/>
            <a:ext cx="4623653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877410" y="273962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860" y="2921794"/>
            <a:ext cx="150019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70329" y="2868216"/>
            <a:ext cx="3959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Reduced Overwhelm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370329" y="3159323"/>
            <a:ext cx="39592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Prevents the school from being inundated with individual queries and misdiagnoses, saving valuable staff time.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3877410" y="3816548"/>
            <a:ext cx="4623653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3877410" y="381654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860" y="3998714"/>
            <a:ext cx="150019" cy="2000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70329" y="3945136"/>
            <a:ext cx="3959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Focus on Solutions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4370329" y="4236244"/>
            <a:ext cx="39592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Shifts the narrative from 'problem' to 'managed process', fostering a collaborative approach to resolution.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82284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714375"/>
            <a:ext cx="2510721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Reducing Stigma and Maintaining Dignity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2451646"/>
            <a:ext cx="25107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A compassionate and respectful approach is crucial for effective head lice management in schools.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53784" y="585788"/>
            <a:ext cx="4347279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4153784" y="58578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234" y="767953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46715" y="714375"/>
            <a:ext cx="35828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Neutral Language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746715" y="1005483"/>
            <a:ext cx="358289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Emphasize 'exposure' over 'infestation'; focus on facts, not blame, to foster a calm environment.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153784" y="1662708"/>
            <a:ext cx="4347279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153784" y="166270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234" y="1844873"/>
            <a:ext cx="175022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71706" y="1791295"/>
            <a:ext cx="36579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Confidentiality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671706" y="2082403"/>
            <a:ext cx="36579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Strict adherence to privacy; avoid public shaming or classroom announcements to protect student dignity.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4153784" y="2739628"/>
            <a:ext cx="4347279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4153784" y="273962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234" y="2921794"/>
            <a:ext cx="200025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96709" y="2868216"/>
            <a:ext cx="36329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Education over Exclusion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696709" y="3159323"/>
            <a:ext cx="363290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Promote understanding that head lice are common and treatable, not a reflection of hygiene or social status.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153784" y="3816548"/>
            <a:ext cx="4347279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153784" y="381654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234" y="3998714"/>
            <a:ext cx="250031" cy="2000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46715" y="3945136"/>
            <a:ext cx="35828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Supportive Resources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4746715" y="4236244"/>
            <a:ext cx="358289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Provide easy access to tools like Head Lice Checker to empower families with solutions, not shame them.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708946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714375"/>
            <a:ext cx="2637383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05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642938" y="1596628"/>
            <a:ext cx="263738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No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Exclusion,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No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Stigma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42938" y="3711178"/>
            <a:ext cx="2637383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90000"/>
                  </a:srgbClr>
                </a:solidFill>
              </a:rPr>
              <a:t>Modern health guidance prioritizes education and support over isolation and alarm.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3708946" y="0"/>
            <a:ext cx="5435054" cy="514350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46" y="735806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3346" y="714375"/>
            <a:ext cx="38777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Current Guidance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4623346" y="1112639"/>
            <a:ext cx="3877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Students should not be excluded from school due to head lice. Education continues while families manage the situation at home.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46" y="2248495"/>
            <a:ext cx="142875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51921" y="2227064"/>
            <a:ext cx="38491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Action &amp; Support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4651921" y="2625328"/>
            <a:ext cx="38491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Encourage treatment to begin same-day. Support families with practical resources and evidence-led triage via Head Lice Checker.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446" y="3761184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23346" y="3739753"/>
            <a:ext cx="387771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Neutral Communication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4623346" y="4138017"/>
            <a:ext cx="3877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Use "Exposure Notice" rather than "Outbreak Alert" to maintain a calm environment and prevent unnecessary panic.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43936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714375"/>
            <a:ext cx="2872374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07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642938" y="1596628"/>
            <a:ext cx="287237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Supporting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Families: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Practical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Tools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42938" y="3711178"/>
            <a:ext cx="287237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90000"/>
                  </a:srgbClr>
                </a:solidFill>
              </a:rPr>
              <a:t>Empower parents with the right resources to manage head lice calmly and effectively.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36" y="816173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2636" y="714375"/>
            <a:ext cx="35284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Free Scan</a:t>
            </a:r>
            <a:endParaRPr lang="en-US" sz="1602" dirty="0"/>
          </a:p>
        </p:txBody>
      </p:sp>
      <p:sp>
        <p:nvSpPr>
          <p:cNvPr id="9" name="Text 5"/>
          <p:cNvSpPr/>
          <p:nvPr/>
        </p:nvSpPr>
        <p:spPr>
          <a:xfrm>
            <a:off x="4972636" y="1112639"/>
            <a:ext cx="3528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80000"/>
                  </a:srgbClr>
                </a:solidFill>
              </a:rPr>
              <a:t>Direct parents to the online AI triage tool at headlicechecker.com for immediate, non-diagnostic feedback on scalp photos.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36" y="2328863"/>
            <a:ext cx="1714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15486" y="2227064"/>
            <a:ext cx="358557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Clinic Finder</a:t>
            </a:r>
            <a:endParaRPr lang="en-US" sz="1602" dirty="0"/>
          </a:p>
        </p:txBody>
      </p:sp>
      <p:sp>
        <p:nvSpPr>
          <p:cNvPr id="12" name="Text 7"/>
          <p:cNvSpPr/>
          <p:nvPr/>
        </p:nvSpPr>
        <p:spPr>
          <a:xfrm>
            <a:off x="4915486" y="2625328"/>
            <a:ext cx="358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80000"/>
                  </a:srgbClr>
                </a:solidFill>
              </a:rPr>
              <a:t>Use the integrated search tool to help families find professional confirmation and treatment support near them.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436" y="384155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72636" y="3739753"/>
            <a:ext cx="35284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School Toolkit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4972636" y="4138017"/>
            <a:ext cx="3528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80000"/>
                  </a:srgbClr>
                </a:solidFill>
              </a:rPr>
              <a:t>Utilize our pre-made policy templates, parent notices, and trackers to maintain a consistent and professional school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18463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571500"/>
            <a:ext cx="78581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Next Steps</a:t>
            </a:r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For Staff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642938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42938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Review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42938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Familiarize yourself with the new School Policy Guidance and communication cadence.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357563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02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357563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Action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57563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Report suspected cases to the school office using the Escalation Tracker immediately.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072188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03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072188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Direct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6072188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Always point parents to the official resources and AI triage at headlicechecker.com.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7000875" y="0"/>
            <a:ext cx="2143125" cy="318463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3184634"/>
            <a:ext cx="9144000" cy="195886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3"/>
          <p:cNvSpPr/>
          <p:nvPr/>
        </p:nvSpPr>
        <p:spPr>
          <a:xfrm>
            <a:off x="642938" y="3613259"/>
            <a:ext cx="35648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8C42"/>
                </a:solidFill>
              </a:rPr>
              <a:t>Official Resources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42938" y="4018666"/>
            <a:ext cx="35648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headlicechecker.com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42938" y="4416930"/>
            <a:ext cx="35648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headlicechecker.com/for-schools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6398623" y="4702373"/>
            <a:ext cx="21024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FFFFF">
                    <a:alpha val="40000"/>
                  </a:srgbClr>
                </a:solidFill>
              </a:rPr>
              <a:t>Head Lice Management 2026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2026-02-23T17:42:12Z</dcterms:created>
  <dcterms:modified xsi:type="dcterms:W3CDTF">2026-02-23T17:42:12Z</dcterms:modified>
</cp:coreProperties>
</file>