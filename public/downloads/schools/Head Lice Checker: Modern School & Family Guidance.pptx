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1972038"/>
            <a:ext cx="4872038" cy="1260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353" b="1" dirty="0">
                <a:solidFill>
                  <a:srgbClr val="FFFFFF"/>
                </a:solidFill>
              </a:rPr>
              <a:t>Head Lice</a:t>
            </a:r>
            <a:pPr algn="l" indent="0" marL="0">
              <a:lnSpc>
                <a:spcPts val="5000"/>
              </a:lnSpc>
              <a:buNone/>
            </a:pPr>
            <a:r>
              <a:rPr lang="en-US" sz="4353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5000"/>
              </a:lnSpc>
              <a:buNone/>
            </a:pPr>
            <a:r>
              <a:rPr lang="en-US" sz="4353" b="1" dirty="0">
                <a:solidFill>
                  <a:srgbClr val="FFFFFF"/>
                </a:solidFill>
              </a:rPr>
              <a:t>Checker</a:t>
            </a: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642938" y="3403634"/>
            <a:ext cx="42862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Modern School &amp; Family Guidance for AI-Powered Triage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5229225" y="4429125"/>
            <a:ext cx="1428750" cy="142875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344796"/>
            <a:ext cx="2857500" cy="453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428625"/>
            <a:ext cx="388993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D3748"/>
                </a:solidFill>
              </a:rPr>
              <a:t>What is Head Lice Checker?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642938" y="1246584"/>
            <a:ext cx="3821906" cy="1841302"/>
          </a:xfrm>
          <a:prstGeom prst="rect">
            <a:avLst/>
          </a:prstGeom>
          <a:solidFill>
            <a:srgbClr val="2D3748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564481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8688" y="1937742"/>
            <a:ext cx="3250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Parent-First Guidance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928688" y="2325291"/>
            <a:ext cx="32504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A calm, private approach to managing head lice concerns with clear next steps for families.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679156" y="1246584"/>
            <a:ext cx="3821906" cy="1841302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906" y="1564481"/>
            <a:ext cx="128588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4906" y="1937742"/>
            <a:ext cx="3250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AI-Powered Triage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964906" y="2325291"/>
            <a:ext cx="32504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>
                    <a:alpha val="90000"/>
                  </a:srgbClr>
                </a:solidFill>
              </a:rPr>
              <a:t>A fast first check tool for itching or scalp irritation using advanced AI analysis in seconds.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3302198"/>
            <a:ext cx="3821906" cy="1841302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3620095"/>
            <a:ext cx="192881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8" y="3993356"/>
            <a:ext cx="3250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Indicative Screening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928688" y="4380905"/>
            <a:ext cx="32504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000000">
                    <a:alpha val="90000"/>
                  </a:srgbClr>
                </a:solidFill>
              </a:rPr>
              <a:t>Provides an indicative result to help families decide on next steps, not intended as a medical diagnosis.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679156" y="3302198"/>
            <a:ext cx="3821906" cy="1841302"/>
          </a:xfrm>
          <a:prstGeom prst="rect">
            <a:avLst/>
          </a:prstGeom>
          <a:solidFill>
            <a:srgbClr val="FF8C42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4906" y="3620095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4906" y="3993356"/>
            <a:ext cx="32504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Evidence-Led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4964906" y="4380905"/>
            <a:ext cx="32504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Helps separate likely head lice activity from common lookalikes like dandruff or dry scalp flakes.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428625"/>
            <a:ext cx="377820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D3748"/>
                </a:solidFill>
              </a:rPr>
              <a:t>How the AI Checker Works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642938" y="1246584"/>
            <a:ext cx="1457325" cy="389691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Text 2"/>
          <p:cNvSpPr/>
          <p:nvPr/>
        </p:nvSpPr>
        <p:spPr>
          <a:xfrm>
            <a:off x="1752786" y="1103709"/>
            <a:ext cx="490351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000000">
                    <a:alpha val="5000"/>
                  </a:srgbClr>
                </a:solidFill>
              </a:rPr>
              <a:t>1</a:t>
            </a:r>
            <a:endParaRPr lang="en-US" sz="6218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76983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2016323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Capture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857250" y="2364581"/>
            <a:ext cx="1028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80000"/>
                  </a:srgbClr>
                </a:solidFill>
              </a:rPr>
              <a:t>Take a clear close-up photo in bright lighting.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2243138" y="1246584"/>
            <a:ext cx="1457325" cy="389691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Text 6"/>
          <p:cNvSpPr/>
          <p:nvPr/>
        </p:nvSpPr>
        <p:spPr>
          <a:xfrm>
            <a:off x="3352986" y="1103709"/>
            <a:ext cx="490351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000000">
                    <a:alpha val="5000"/>
                  </a:srgbClr>
                </a:solidFill>
              </a:rPr>
              <a:t>2</a:t>
            </a:r>
            <a:endParaRPr lang="en-US" sz="6218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1576983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57450" y="2016323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Upload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2457450" y="2364581"/>
            <a:ext cx="1028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80000"/>
                  </a:srgbClr>
                </a:solidFill>
              </a:rPr>
              <a:t>Drop the photo into the free scan tool.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843338" y="1246584"/>
            <a:ext cx="1457325" cy="3896916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5" name="Text 10"/>
          <p:cNvSpPr/>
          <p:nvPr/>
        </p:nvSpPr>
        <p:spPr>
          <a:xfrm>
            <a:off x="4953186" y="1103709"/>
            <a:ext cx="490351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FFFFFF">
                    <a:alpha val="20000"/>
                  </a:srgbClr>
                </a:solidFill>
              </a:rPr>
              <a:t>3</a:t>
            </a:r>
            <a:endParaRPr lang="en-US" sz="6218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576983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57650" y="2016323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Analyze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4057650" y="2364581"/>
            <a:ext cx="1028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>
                    <a:alpha val="80000"/>
                  </a:srgbClr>
                </a:solidFill>
              </a:rPr>
              <a:t>AI processes image evidence to find indicators.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5443538" y="1246584"/>
            <a:ext cx="1457325" cy="389691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Text 14"/>
          <p:cNvSpPr/>
          <p:nvPr/>
        </p:nvSpPr>
        <p:spPr>
          <a:xfrm>
            <a:off x="6553386" y="1103709"/>
            <a:ext cx="490351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000000">
                    <a:alpha val="5000"/>
                  </a:srgbClr>
                </a:solidFill>
              </a:rPr>
              <a:t>4</a:t>
            </a:r>
            <a:endParaRPr lang="en-US" sz="6218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7850" y="1576983"/>
            <a:ext cx="17145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57850" y="2016323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Result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5657850" y="2364581"/>
            <a:ext cx="1028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80000"/>
                  </a:srgbClr>
                </a:solidFill>
              </a:rPr>
              <a:t>Get an indicative result with home guidance.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7043738" y="1246584"/>
            <a:ext cx="1457325" cy="389691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Text 18"/>
          <p:cNvSpPr/>
          <p:nvPr/>
        </p:nvSpPr>
        <p:spPr>
          <a:xfrm>
            <a:off x="8153586" y="1103709"/>
            <a:ext cx="490351" cy="1168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6218" b="1" dirty="0">
                <a:solidFill>
                  <a:srgbClr val="000000">
                    <a:alpha val="5000"/>
                  </a:srgbClr>
                </a:solidFill>
              </a:rPr>
              <a:t>5</a:t>
            </a:r>
            <a:endParaRPr lang="en-US" sz="6218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1576983"/>
            <a:ext cx="28575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58050" y="2016323"/>
            <a:ext cx="1028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Confirm</a:t>
            </a:r>
            <a:endParaRPr lang="en-US" sz="1193" dirty="0"/>
          </a:p>
        </p:txBody>
      </p:sp>
      <p:sp>
        <p:nvSpPr>
          <p:cNvPr id="28" name="Text 20"/>
          <p:cNvSpPr/>
          <p:nvPr/>
        </p:nvSpPr>
        <p:spPr>
          <a:xfrm>
            <a:off x="7258050" y="2364581"/>
            <a:ext cx="1028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0000">
                    <a:alpha val="80000"/>
                  </a:srgbClr>
                </a:solidFill>
              </a:rPr>
              <a:t>Direct pathway to clinics for confirmation.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428625"/>
            <a:ext cx="4644889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D3748"/>
                </a:solidFill>
              </a:rPr>
              <a:t>Key Indicators: What to Look For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642938" y="1246584"/>
            <a:ext cx="3929063" cy="1948458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6484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0125" y="2087761"/>
            <a:ext cx="3214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Live Lice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1000125" y="2514600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Small moving insects that stay close to the scalp. Most commonly found near the nape of the neck or behind the ears.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572000" y="1246584"/>
            <a:ext cx="3929063" cy="1948458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648420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29188" y="2087761"/>
            <a:ext cx="3214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Nits (Eggs)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4929188" y="2514600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Oval-shaped and fixed to one side of the hair shaft. Unlike dandruff, they are difficult to flick away or slide off.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642938" y="3195042"/>
            <a:ext cx="3929063" cy="1948458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596878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0125" y="4036219"/>
            <a:ext cx="3214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Lookalikes</a:t>
            </a:r>
            <a:endParaRPr lang="en-US" sz="1602" dirty="0"/>
          </a:p>
        </p:txBody>
      </p:sp>
      <p:sp>
        <p:nvSpPr>
          <p:cNvPr id="15" name="Text 9"/>
          <p:cNvSpPr/>
          <p:nvPr/>
        </p:nvSpPr>
        <p:spPr>
          <a:xfrm>
            <a:off x="1000125" y="4463058"/>
            <a:ext cx="32146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Dandruff and dry scalp flakes are usually irregular in shape and move easily when touched or brushed.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572000" y="3195042"/>
            <a:ext cx="3929063" cy="1948458"/>
          </a:xfrm>
          <a:prstGeom prst="rect">
            <a:avLst/>
          </a:prstGeom>
          <a:solidFill>
            <a:srgbClr val="FFFFFF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596878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29188" y="4036219"/>
            <a:ext cx="32146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</a:rPr>
              <a:t>Context</a:t>
            </a:r>
            <a:endParaRPr lang="en-US" sz="1602" dirty="0"/>
          </a:p>
        </p:txBody>
      </p:sp>
      <p:sp>
        <p:nvSpPr>
          <p:cNvPr id="19" name="Text 12"/>
          <p:cNvSpPr/>
          <p:nvPr/>
        </p:nvSpPr>
        <p:spPr>
          <a:xfrm>
            <a:off x="4929188" y="4463058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>
                    <a:alpha val="90000"/>
                  </a:srgbClr>
                </a:solidFill>
              </a:rPr>
              <a:t>Itching and redness are common signs but not definitive. Visual evidence is the most reliable indicator for triage.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685800"/>
            <a:ext cx="21431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FFFF"/>
                </a:solidFill>
              </a:rPr>
              <a:t>Benefits for Schools &amp; Childcare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428625" y="1885950"/>
            <a:ext cx="21431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</a:rPr>
              <a:t>Head Lice Checker provides a structured framework to manage outbreaks with confidence and clarity across your entire team.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3286125" y="428625"/>
            <a:ext cx="2607469" cy="2250281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38" y="746522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0438" y="1091208"/>
            <a:ext cx="2178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Consistent Communication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3500438" y="1391245"/>
            <a:ext cx="2178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Repeatable guidance and standardized language reduce mixed messaging and parent confusion during outbreaks.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6107906" y="428625"/>
            <a:ext cx="2607469" cy="2250281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219" y="746522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22219" y="1091208"/>
            <a:ext cx="2178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Non-Diagnostic Support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6322219" y="1391245"/>
            <a:ext cx="2178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Empowers families with practical home-check instructions without the school making medical claims.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286125" y="2893219"/>
            <a:ext cx="2607469" cy="2250281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8" y="3211116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00438" y="3555802"/>
            <a:ext cx="2178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Faster Escalation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3500438" y="3855839"/>
            <a:ext cx="2178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Routes persistent symptoms or uncertain cases to professional clinic support sooner, reducing school burden.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6107906" y="2893219"/>
            <a:ext cx="2607469" cy="2250281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19" y="3211116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22219" y="3555802"/>
            <a:ext cx="2178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Operational Tools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6322219" y="3855839"/>
            <a:ext cx="21788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Ready-to-use templates for school policies, parent notices, and outbreak tracking spreadsheets.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428625"/>
            <a:ext cx="4347418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D3748"/>
                </a:solidFill>
              </a:rPr>
              <a:t>The School Response Playbook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642938" y="1246584"/>
            <a:ext cx="2971800" cy="389691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46584"/>
            <a:ext cx="2971800" cy="5715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568946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3013" y="1532334"/>
            <a:ext cx="138678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Core Principle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928688" y="1977033"/>
            <a:ext cx="2400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FFFFFF">
                    <a:alpha val="90000"/>
                  </a:srgbClr>
                </a:solidFill>
              </a:rPr>
              <a:t>Neutral Language: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 Use calm, non-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alarmist wording in all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communications. Focus on action: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tell families </a:t>
            </a:r>
            <a:pPr algn="l" indent="0" marL="0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FFFFFF">
                    <a:alpha val="90000"/>
                  </a:srgbClr>
                </a:solidFill>
              </a:rPr>
              <a:t>what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 to check and </a:t>
            </a:r>
            <a:pPr algn="l" indent="0" marL="0">
              <a:lnSpc>
                <a:spcPts val="1800"/>
              </a:lnSpc>
              <a:buNone/>
            </a:pPr>
            <a:r>
              <a:rPr lang="en-US" sz="1050" i="1" dirty="0">
                <a:solidFill>
                  <a:srgbClr val="FFFFFF">
                    <a:alpha val="90000"/>
                  </a:srgbClr>
                </a:solidFill>
              </a:rPr>
              <a:t>how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</a:rPr>
              <a:t> to check.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4043363" y="1246584"/>
            <a:ext cx="4457700" cy="89118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6"/>
          <p:cNvSpPr/>
          <p:nvPr/>
        </p:nvSpPr>
        <p:spPr>
          <a:xfrm>
            <a:off x="4043363" y="1246584"/>
            <a:ext cx="42863" cy="89118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1" name="Text 7"/>
          <p:cNvSpPr/>
          <p:nvPr/>
        </p:nvSpPr>
        <p:spPr>
          <a:xfrm>
            <a:off x="4257675" y="1460897"/>
            <a:ext cx="2615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8C42">
                    <a:alpha val="50000"/>
                  </a:srgbClr>
                </a:solidFill>
              </a:rPr>
              <a:t>01</a:t>
            </a:r>
            <a:endParaRPr lang="en-US" sz="1602" dirty="0"/>
          </a:p>
        </p:txBody>
      </p:sp>
      <p:sp>
        <p:nvSpPr>
          <p:cNvPr id="12" name="Text 8"/>
          <p:cNvSpPr/>
          <p:nvPr/>
        </p:nvSpPr>
        <p:spPr>
          <a:xfrm>
            <a:off x="4690653" y="1460897"/>
            <a:ext cx="35960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Notice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4690653" y="1752005"/>
            <a:ext cx="35960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Issue a same-day neutral update to parents as soon as exposure is identified.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043363" y="2280642"/>
            <a:ext cx="4457700" cy="89118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4043363" y="2280642"/>
            <a:ext cx="42863" cy="89118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Text 12"/>
          <p:cNvSpPr/>
          <p:nvPr/>
        </p:nvSpPr>
        <p:spPr>
          <a:xfrm>
            <a:off x="4257675" y="2494955"/>
            <a:ext cx="2615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8C42">
                    <a:alpha val="50000"/>
                  </a:srgbClr>
                </a:solidFill>
              </a:rPr>
              <a:t>02</a:t>
            </a:r>
            <a:endParaRPr lang="en-US" sz="1602" dirty="0"/>
          </a:p>
        </p:txBody>
      </p:sp>
      <p:sp>
        <p:nvSpPr>
          <p:cNvPr id="17" name="Text 13"/>
          <p:cNvSpPr/>
          <p:nvPr/>
        </p:nvSpPr>
        <p:spPr>
          <a:xfrm>
            <a:off x="4690653" y="2494955"/>
            <a:ext cx="35960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Reminder</a:t>
            </a:r>
            <a:endParaRPr lang="en-US" sz="1193" dirty="0"/>
          </a:p>
        </p:txBody>
      </p:sp>
      <p:sp>
        <p:nvSpPr>
          <p:cNvPr id="18" name="Text 14"/>
          <p:cNvSpPr/>
          <p:nvPr/>
        </p:nvSpPr>
        <p:spPr>
          <a:xfrm>
            <a:off x="4690653" y="2786063"/>
            <a:ext cx="35960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Schedule one clear follow-up window to ensure checks are being completed.</a:t>
            </a:r>
            <a:endParaRPr lang="en-US" sz="942" dirty="0"/>
          </a:p>
        </p:txBody>
      </p:sp>
      <p:sp>
        <p:nvSpPr>
          <p:cNvPr id="19" name="Shape 15"/>
          <p:cNvSpPr/>
          <p:nvPr/>
        </p:nvSpPr>
        <p:spPr>
          <a:xfrm>
            <a:off x="4043363" y="3314700"/>
            <a:ext cx="4457700" cy="89118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6"/>
          <p:cNvSpPr/>
          <p:nvPr/>
        </p:nvSpPr>
        <p:spPr>
          <a:xfrm>
            <a:off x="4043363" y="3314700"/>
            <a:ext cx="42863" cy="89118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1" name="Text 17"/>
          <p:cNvSpPr/>
          <p:nvPr/>
        </p:nvSpPr>
        <p:spPr>
          <a:xfrm>
            <a:off x="4257675" y="3529013"/>
            <a:ext cx="2615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8C42">
                    <a:alpha val="50000"/>
                  </a:srgbClr>
                </a:solidFill>
              </a:rPr>
              <a:t>03</a:t>
            </a:r>
            <a:endParaRPr lang="en-US" sz="1602" dirty="0"/>
          </a:p>
        </p:txBody>
      </p:sp>
      <p:sp>
        <p:nvSpPr>
          <p:cNvPr id="22" name="Text 18"/>
          <p:cNvSpPr/>
          <p:nvPr/>
        </p:nvSpPr>
        <p:spPr>
          <a:xfrm>
            <a:off x="4690653" y="3529013"/>
            <a:ext cx="35960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Escalation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4690653" y="3820120"/>
            <a:ext cx="359609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standardized wording for clinic referrals if indicators repeat or uncertainty persists.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143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1"/>
          <p:cNvSpPr/>
          <p:nvPr/>
        </p:nvSpPr>
        <p:spPr>
          <a:xfrm>
            <a:off x="642938" y="857250"/>
            <a:ext cx="214312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Best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Practices for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Families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642938" y="2217353"/>
            <a:ext cx="2143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</a:rPr>
              <a:t>Actionable advice for effective home checking and outbreak management.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2938" y="428625"/>
            <a:ext cx="428625" cy="42863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7" name="Shape 4"/>
          <p:cNvSpPr/>
          <p:nvPr/>
        </p:nvSpPr>
        <p:spPr>
          <a:xfrm>
            <a:off x="3786188" y="857250"/>
            <a:ext cx="457200" cy="4572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778" y="1000125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1988" y="885825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Check Regularly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4471988" y="1205508"/>
            <a:ext cx="40290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Run consistent checks every few days during active exposure periods to catch changes early.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3786188" y="1934170"/>
            <a:ext cx="457200" cy="4572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494" y="2077045"/>
            <a:ext cx="128588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71988" y="1962745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Quality Matters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4471988" y="2282428"/>
            <a:ext cx="40290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bright light and part hair to show the roots clearly for the most accurate AI scan results.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3786188" y="3011091"/>
            <a:ext cx="457200" cy="4572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3" y="3153966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71988" y="3039666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Stay Calm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4471988" y="3359348"/>
            <a:ext cx="40290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Most scares can be managed with a structured, evidence-led process rather than guesswork.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3786188" y="4088011"/>
            <a:ext cx="457200" cy="4572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78" y="4230886"/>
            <a:ext cx="150019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71988" y="4116586"/>
            <a:ext cx="40290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D3748"/>
                </a:solidFill>
              </a:rPr>
              <a:t>Seek Help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4471988" y="4436269"/>
            <a:ext cx="40290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718096"/>
                </a:solidFill>
              </a:rPr>
              <a:t>Use the clinic finder promptly if indicators repeat or if you remain uncertain after scanning.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0113" y="428625"/>
            <a:ext cx="3341015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2D3748"/>
                </a:solidFill>
              </a:rPr>
              <a:t>Next Steps &amp; Resources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642938" y="1103709"/>
            <a:ext cx="7858125" cy="1321594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5" name="Text 2"/>
          <p:cNvSpPr/>
          <p:nvPr/>
        </p:nvSpPr>
        <p:spPr>
          <a:xfrm>
            <a:off x="1071563" y="1532334"/>
            <a:ext cx="70008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Start Your Free Scan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1071563" y="2112764"/>
            <a:ext cx="70008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>
                    <a:alpha val="90000"/>
                  </a:srgbClr>
                </a:solidFill>
              </a:rPr>
              <a:t>headlicechecker.com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7429500" y="746522"/>
            <a:ext cx="1428750" cy="142875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42938" y="2711053"/>
            <a:ext cx="2476481" cy="2432447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57513"/>
            <a:ext cx="128588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250" y="3302198"/>
            <a:ext cx="20478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Find a Clinic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857250" y="3602236"/>
            <a:ext cx="20478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Locate professional support and confirmation near you using our clinic finder.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33731" y="2711053"/>
            <a:ext cx="2476509" cy="2432447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044" y="295751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8044" y="3302198"/>
            <a:ext cx="20478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Download Toolkit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3548044" y="3602236"/>
            <a:ext cx="204788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Access editable policy templates, parent notices, and trackers for schools.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6024553" y="2711053"/>
            <a:ext cx="2476481" cy="2432447"/>
          </a:xfrm>
          <a:prstGeom prst="rect">
            <a:avLst/>
          </a:prstGeom>
          <a:solidFill>
            <a:srgbClr val="F9FAFB"/>
          </a:solidFill>
          <a:ln w="9144">
            <a:solidFill>
              <a:srgbClr val="F1F1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66" y="2957513"/>
            <a:ext cx="171450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38866" y="3302198"/>
            <a:ext cx="20478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3748"/>
                </a:solidFill>
              </a:rPr>
              <a:t>Learn More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6238866" y="3602236"/>
            <a:ext cx="20478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718096"/>
                </a:solidFill>
              </a:rPr>
              <a:t>Review our Methodology, Clinical Safety, and Editorial Policy for full transparency.</a:t>
            </a:r>
            <a:endParaRPr lang="en-US" sz="834" dirty="0"/>
          </a:p>
        </p:txBody>
      </p:sp>
      <p:sp>
        <p:nvSpPr>
          <p:cNvPr id="20" name="Text 14"/>
          <p:cNvSpPr/>
          <p:nvPr/>
        </p:nvSpPr>
        <p:spPr>
          <a:xfrm>
            <a:off x="7098041" y="4722019"/>
            <a:ext cx="14030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A0AEC0"/>
                </a:solidFill>
              </a:rPr>
              <a:t>HEAD LICE CHECKER 2026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2026-02-23T17:42:06Z</dcterms:created>
  <dcterms:modified xsi:type="dcterms:W3CDTF">2026-02-23T17:42:06Z</dcterms:modified>
</cp:coreProperties>
</file>