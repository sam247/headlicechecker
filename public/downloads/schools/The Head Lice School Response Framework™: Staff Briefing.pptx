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/>
        </p:spPr>
        <p:txBody>
          <a:bodyPr wrap="square" lIns="510286" tIns="850392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642938" y="1571625"/>
            <a:ext cx="7858125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4974" b="1" spc="-3" kern="0" dirty="0">
                <a:solidFill>
                  <a:srgbClr val="FFFFFF"/>
                </a:solidFill>
              </a:rPr>
              <a:t>The Head Lice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3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3" kern="0" dirty="0">
                <a:solidFill>
                  <a:srgbClr val="FFFFFF"/>
                </a:solidFill>
              </a:rPr>
              <a:t>School Response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3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900"/>
              </a:lnSpc>
              <a:buNone/>
            </a:pPr>
            <a:r>
              <a:rPr lang="en-US" sz="4974" b="1" spc="-3" kern="0" dirty="0">
                <a:solidFill>
                  <a:srgbClr val="FFFFFF"/>
                </a:solidFill>
              </a:rPr>
              <a:t>Framework™</a:t>
            </a:r>
            <a:endParaRPr lang="en-US" sz="4974" dirty="0"/>
          </a:p>
        </p:txBody>
      </p:sp>
      <p:sp>
        <p:nvSpPr>
          <p:cNvPr id="7" name="Text 4"/>
          <p:cNvSpPr/>
          <p:nvPr/>
        </p:nvSpPr>
        <p:spPr>
          <a:xfrm>
            <a:off x="642938" y="3709002"/>
            <a:ext cx="50006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/>
                </a:solidFill>
              </a:rPr>
              <a:t>Staff Briefing: Operational Consistency, Standardised Protocol, and Safeguarding Principles.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642938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>
                    <a:alpha val="60000"/>
                  </a:srgbClr>
                </a:solidFill>
              </a:rPr>
              <a:t>Version 1.0 | Issued: February 2026 | HeadLiceChecker.com</a:t>
            </a:r>
            <a:endParaRPr lang="en-US" sz="68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4017243"/>
            <a:ext cx="2143125" cy="3404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5888" y="428625"/>
            <a:ext cx="6504496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2" kern="0" dirty="0">
                <a:solidFill>
                  <a:srgbClr val="2D3748"/>
                </a:solidFill>
              </a:rPr>
              <a:t>Goal: Operational Clarity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0" y="1480542"/>
            <a:ext cx="3047981" cy="366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040838" y="1480542"/>
            <a:ext cx="7144" cy="366295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909167"/>
            <a:ext cx="219073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D3748">
                    <a:alpha val="50000"/>
                  </a:srgbClr>
                </a:solidFill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2661047"/>
            <a:ext cx="21907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Objective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8625" y="3145036"/>
            <a:ext cx="2190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90000"/>
                  </a:srgbClr>
                </a:solidFill>
              </a:rPr>
              <a:t>Standardise the school's response to head lice using a single, repeatable framework for all staff to ensure operational consistency.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47981" y="1480542"/>
            <a:ext cx="3048009" cy="366295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0" name="Text 7"/>
          <p:cNvSpPr/>
          <p:nvPr/>
        </p:nvSpPr>
        <p:spPr>
          <a:xfrm>
            <a:off x="3476606" y="1909167"/>
            <a:ext cx="2190759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50000"/>
                  </a:srgbClr>
                </a:solidFill>
              </a:rPr>
              <a:t>02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3476606" y="2661047"/>
            <a:ext cx="219075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Why It Matters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476606" y="3145036"/>
            <a:ext cx="21907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Reduce parental anxiety, minimize classroom disruption, and eliminate the stigma associated with head lice through a calm, professional approach.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95991" y="1480542"/>
            <a:ext cx="3047981" cy="366295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11"/>
          <p:cNvSpPr/>
          <p:nvPr/>
        </p:nvSpPr>
        <p:spPr>
          <a:xfrm>
            <a:off x="6524616" y="1909167"/>
            <a:ext cx="219073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50000"/>
                  </a:srgbClr>
                </a:solidFill>
              </a:rPr>
              <a:t>03</a:t>
            </a:r>
            <a:endParaRPr lang="en-US" sz="2436" dirty="0"/>
          </a:p>
        </p:txBody>
      </p:sp>
      <p:sp>
        <p:nvSpPr>
          <p:cNvPr id="15" name="Text 12"/>
          <p:cNvSpPr/>
          <p:nvPr/>
        </p:nvSpPr>
        <p:spPr>
          <a:xfrm>
            <a:off x="6524616" y="2661047"/>
            <a:ext cx="21907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Framework Tool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6524616" y="3145036"/>
            <a:ext cx="219073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Head Lice Checker (headlicechecker.com) provides an optional framework for non-diagnostic, evidence-led triage to support school staff.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961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99421" cy="5509617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714375"/>
            <a:ext cx="3227859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20000"/>
                  </a:srgbClr>
                </a:solidFill>
              </a:rPr>
              <a:t>02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642938" y="1596628"/>
            <a:ext cx="32278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Observation,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Not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Diagnosis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642938" y="3253978"/>
            <a:ext cx="3227859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>
                    <a:alpha val="90000"/>
                  </a:srgbClr>
                </a:solidFill>
              </a:rPr>
              <a:t>Staff maintain a non-diagnostic position to ensure the school's response remains professional and evidence-led.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99421" y="0"/>
            <a:ext cx="4844579" cy="5509617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921" y="816173"/>
            <a:ext cx="25717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56696" y="714375"/>
            <a:ext cx="314436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Staff Responsibility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5356696" y="1112639"/>
            <a:ext cx="31443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Monitor for persistent itching or visible signs during class; report suspected cases to the school office following the established framework protocol.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921" y="255746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28121" y="2455664"/>
            <a:ext cx="31729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The Boundary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5328121" y="2853928"/>
            <a:ext cx="31729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Staff do not diagnose. We observe and refer to the framework's communication cadence, directing parents to professional triage support.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921" y="4298752"/>
            <a:ext cx="20002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99546" y="4196953"/>
            <a:ext cx="320151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Confidentiality</a:t>
            </a:r>
            <a:endParaRPr lang="en-US" sz="1602" dirty="0"/>
          </a:p>
        </p:txBody>
      </p:sp>
      <p:sp>
        <p:nvSpPr>
          <p:cNvPr id="16" name="Text 10"/>
          <p:cNvSpPr/>
          <p:nvPr/>
        </p:nvSpPr>
        <p:spPr>
          <a:xfrm>
            <a:off x="5299546" y="4595217"/>
            <a:ext cx="32015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Treat all reports with high sensitivity to maintain dignity. Avoid public mentions, classroom labeling, or identifying specific students.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890343" y="5088136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718096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5888" y="428625"/>
            <a:ext cx="3747232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2" kern="0" dirty="0">
                <a:solidFill>
                  <a:srgbClr val="2D3748"/>
                </a:solidFill>
              </a:rPr>
              <a:t>Fact vs. Fiction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0" y="1266230"/>
            <a:ext cx="4572000" cy="193863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25191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1907381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Live Lice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28625" y="2305645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Fact: They do not jump or fly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28625" y="2503884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Small moving insects that stay close to the scalp. Most commonly found near the nape of the neck or behind the ears.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572000" y="1266230"/>
            <a:ext cx="4572000" cy="193863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1525191"/>
            <a:ext cx="1714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00625" y="1907381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Nits (Eggs)</a:t>
            </a:r>
            <a:endParaRPr lang="en-US" sz="1602" dirty="0"/>
          </a:p>
        </p:txBody>
      </p:sp>
      <p:sp>
        <p:nvSpPr>
          <p:cNvPr id="12" name="Text 7"/>
          <p:cNvSpPr/>
          <p:nvPr/>
        </p:nvSpPr>
        <p:spPr>
          <a:xfrm>
            <a:off x="5000625" y="2305645"/>
            <a:ext cx="371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FFFFF"/>
                </a:solidFill>
              </a:rPr>
              <a:t>Fact: They are not dandruff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5000625" y="2503884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Oval-shaped and fixed to one side of the hair shaft. Unlike dandruff, they are difficult to flick away or slide off.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0" y="3204865"/>
            <a:ext cx="4572000" cy="1938635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463826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8625" y="3846016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Misidentification</a:t>
            </a:r>
            <a:endParaRPr lang="en-US" sz="1602" dirty="0"/>
          </a:p>
        </p:txBody>
      </p:sp>
      <p:sp>
        <p:nvSpPr>
          <p:cNvPr id="17" name="Text 11"/>
          <p:cNvSpPr/>
          <p:nvPr/>
        </p:nvSpPr>
        <p:spPr>
          <a:xfrm>
            <a:off x="428625" y="4244280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90000"/>
                  </a:srgbClr>
                </a:solidFill>
              </a:rPr>
              <a:t>Dandruff, hairspray residue, and dry skin are frequently misread as lice, leading to unnecessary panic and escalation.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572000" y="3204865"/>
            <a:ext cx="4572000" cy="1938635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3463826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00625" y="3846016"/>
            <a:ext cx="3714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Triage Support</a:t>
            </a:r>
            <a:endParaRPr lang="en-US" sz="1602" dirty="0"/>
          </a:p>
        </p:txBody>
      </p:sp>
      <p:sp>
        <p:nvSpPr>
          <p:cNvPr id="21" name="Text 14"/>
          <p:cNvSpPr/>
          <p:nvPr/>
        </p:nvSpPr>
        <p:spPr>
          <a:xfrm>
            <a:off x="5000625" y="4244280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3748">
                    <a:alpha val="90000"/>
                  </a:srgbClr>
                </a:solidFill>
              </a:rPr>
              <a:t>Head Lice Checker provides an AI tool to help parents separate likely cases from lookalikes before escalating to clinical support.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85888" y="428625"/>
            <a:ext cx="6164331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2" kern="0" dirty="0">
                <a:solidFill>
                  <a:srgbClr val="2D3748"/>
                </a:solidFill>
              </a:rPr>
              <a:t>Communication Cadence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0" y="1480542"/>
            <a:ext cx="2289572" cy="366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282428" y="1480542"/>
            <a:ext cx="7144" cy="366295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909167"/>
            <a:ext cx="1712714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2D3748">
                    <a:alpha val="30000"/>
                  </a:srgbClr>
                </a:solidFill>
              </a:rPr>
              <a:t>01</a:t>
            </a:r>
            <a:endParaRPr lang="en-US" sz="414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6285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0" y="3207544"/>
            <a:ext cx="17127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2D3748"/>
                </a:solidFill>
              </a:rPr>
              <a:t>Notice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85750" y="3652242"/>
            <a:ext cx="171271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>
                    <a:alpha val="90000"/>
                  </a:srgbClr>
                </a:solidFill>
              </a:rPr>
              <a:t>Immediate, neutral notification to the relevant parent group as soon as exposure is identified.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2284214" y="1480542"/>
            <a:ext cx="2284214" cy="366295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1" name="Text 7"/>
          <p:cNvSpPr/>
          <p:nvPr/>
        </p:nvSpPr>
        <p:spPr>
          <a:xfrm>
            <a:off x="2569964" y="1909167"/>
            <a:ext cx="1712714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FFFFFF">
                    <a:alpha val="30000"/>
                  </a:srgbClr>
                </a:solidFill>
              </a:rPr>
              <a:t>02</a:t>
            </a:r>
            <a:endParaRPr lang="en-US" sz="414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964" y="2862858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9964" y="3207544"/>
            <a:ext cx="17127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</a:rPr>
              <a:t>Instruction</a:t>
            </a:r>
            <a:endParaRPr lang="en-US" sz="1397" dirty="0"/>
          </a:p>
        </p:txBody>
      </p:sp>
      <p:sp>
        <p:nvSpPr>
          <p:cNvPr id="14" name="Text 9"/>
          <p:cNvSpPr/>
          <p:nvPr/>
        </p:nvSpPr>
        <p:spPr>
          <a:xfrm>
            <a:off x="2569964" y="3652242"/>
            <a:ext cx="171271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Direct parents to headlicechecker.com for home triage and practical next steps.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568428" y="1480542"/>
            <a:ext cx="2284214" cy="366295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1"/>
          <p:cNvSpPr/>
          <p:nvPr/>
        </p:nvSpPr>
        <p:spPr>
          <a:xfrm>
            <a:off x="4854178" y="1909167"/>
            <a:ext cx="1712714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FFFFFF">
                    <a:alpha val="30000"/>
                  </a:srgbClr>
                </a:solidFill>
              </a:rPr>
              <a:t>03</a:t>
            </a:r>
            <a:endParaRPr lang="en-US" sz="414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178" y="2862858"/>
            <a:ext cx="150019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54178" y="3207544"/>
            <a:ext cx="171271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</a:rPr>
              <a:t>Reminder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4854178" y="3652242"/>
            <a:ext cx="1712714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Scheduled follow-up at Day 7 to ensure monitoring continues and treatment is effective.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6852642" y="1480542"/>
            <a:ext cx="2291358" cy="36629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9136856" y="1480542"/>
            <a:ext cx="7144" cy="3662958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2" name="Text 16"/>
          <p:cNvSpPr/>
          <p:nvPr/>
        </p:nvSpPr>
        <p:spPr>
          <a:xfrm>
            <a:off x="7143750" y="1909167"/>
            <a:ext cx="1714500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2D3748">
                    <a:alpha val="30000"/>
                  </a:srgbClr>
                </a:solidFill>
              </a:rPr>
              <a:t>04</a:t>
            </a:r>
            <a:endParaRPr lang="en-US" sz="414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2862858"/>
            <a:ext cx="214313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43750" y="3207544"/>
            <a:ext cx="171450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spc="1" kern="0" dirty="0">
                <a:solidFill>
                  <a:srgbClr val="2D3748"/>
                </a:solidFill>
              </a:rPr>
              <a:t>Escalation</a:t>
            </a:r>
            <a:endParaRPr lang="en-US" sz="1397" dirty="0"/>
          </a:p>
        </p:txBody>
      </p:sp>
      <p:sp>
        <p:nvSpPr>
          <p:cNvPr id="25" name="Text 18"/>
          <p:cNvSpPr/>
          <p:nvPr/>
        </p:nvSpPr>
        <p:spPr>
          <a:xfrm>
            <a:off x="7143750" y="3652242"/>
            <a:ext cx="17145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>
                    <a:alpha val="90000"/>
                  </a:srgbClr>
                </a:solidFill>
              </a:rPr>
              <a:t>Referral to professional clinics for persistent cases or where uncertainty remains.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05910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428625"/>
            <a:ext cx="428625" cy="4286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714375"/>
            <a:ext cx="2234347" cy="18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Why a Structured Cadence Prevents Escalation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2828813"/>
            <a:ext cx="223434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A clear, consistent communication framework is key to effective head lice management, reducing panic and improving outcomes.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877410" y="585788"/>
            <a:ext cx="4623653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3877410" y="58578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60" y="767953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20335" y="714375"/>
            <a:ext cx="390927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Proactive Management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420335" y="1005483"/>
            <a:ext cx="39092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Early, clear communication reduces panic and allows for timely home checks, preventing widespread anxiety.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3877410" y="1662708"/>
            <a:ext cx="4623653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877410" y="166270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860" y="1844873"/>
            <a:ext cx="250031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0341" y="1791295"/>
            <a:ext cx="38592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Consistent Messaging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470341" y="2082403"/>
            <a:ext cx="385927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Standardised notices and reminders eliminate confusion and build trust within the parent community.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3877410" y="2739628"/>
            <a:ext cx="4623653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3877410" y="273962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860" y="2921794"/>
            <a:ext cx="150019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70329" y="2868216"/>
            <a:ext cx="39592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Reduced Overwhelm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4370329" y="3159323"/>
            <a:ext cx="39592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Prevents the school from being inundated with individual queries and misdiagnoses, saving valuable staff time.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3877410" y="3816548"/>
            <a:ext cx="4623653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3877410" y="381654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860" y="3998714"/>
            <a:ext cx="150019" cy="2000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370329" y="3945136"/>
            <a:ext cx="395928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Focus on Solutions</a:t>
            </a:r>
            <a:endParaRPr lang="en-US" sz="1193" dirty="0"/>
          </a:p>
        </p:txBody>
      </p:sp>
      <p:sp>
        <p:nvSpPr>
          <p:cNvPr id="26" name="Text 19"/>
          <p:cNvSpPr/>
          <p:nvPr/>
        </p:nvSpPr>
        <p:spPr>
          <a:xfrm>
            <a:off x="4370329" y="4236244"/>
            <a:ext cx="395928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Shifts the narrative from 'problem' to 'managed process', fostering a collaborative approach to resolution.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582284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428625"/>
            <a:ext cx="428625" cy="42863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714375"/>
            <a:ext cx="2510721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Reducing Stigma and Maintaining Dignity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2451646"/>
            <a:ext cx="25107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A compassionate and respectful approach is crucial for effective head lice management in schools.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53784" y="585788"/>
            <a:ext cx="4347279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4153784" y="58578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234" y="767953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46715" y="714375"/>
            <a:ext cx="35828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Neutral Language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746715" y="1005483"/>
            <a:ext cx="358289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Emphasize 'exposure' over 'infestation'; focus on facts, not blame, to foster a calm environment.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4153784" y="1662708"/>
            <a:ext cx="4347279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153784" y="166270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234" y="1844873"/>
            <a:ext cx="175022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71706" y="1791295"/>
            <a:ext cx="365790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Confidentiality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671706" y="2082403"/>
            <a:ext cx="365790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Strict adherence to privacy; avoid public shaming or classroom announcements to protect student dignity.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4153784" y="2739628"/>
            <a:ext cx="4347279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4153784" y="273962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234" y="2921794"/>
            <a:ext cx="200025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96709" y="2868216"/>
            <a:ext cx="36329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Education over Exclusion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4696709" y="3159323"/>
            <a:ext cx="363290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Promote understanding that head lice are common and treatable, not a reflection of hygiene or social status.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153784" y="3816548"/>
            <a:ext cx="4347279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4153784" y="381654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234" y="3998714"/>
            <a:ext cx="250031" cy="20002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746715" y="3945136"/>
            <a:ext cx="35828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Supportive Resources</a:t>
            </a:r>
            <a:endParaRPr lang="en-US" sz="1193" dirty="0"/>
          </a:p>
        </p:txBody>
      </p:sp>
      <p:sp>
        <p:nvSpPr>
          <p:cNvPr id="26" name="Text 19"/>
          <p:cNvSpPr/>
          <p:nvPr/>
        </p:nvSpPr>
        <p:spPr>
          <a:xfrm>
            <a:off x="4746715" y="4236244"/>
            <a:ext cx="358289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Provide easy access to tools like Head Lice Checker to empower families with solutions, not shame them.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66257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714375"/>
            <a:ext cx="3451882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20000"/>
                  </a:srgbClr>
                </a:solidFill>
              </a:rPr>
              <a:t>08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428625" y="1596628"/>
            <a:ext cx="3451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Attendance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&amp;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600"/>
              </a:lnSpc>
              <a:buNone/>
            </a:pPr>
            <a:r>
              <a:rPr lang="en-US" sz="3294" b="1" spc="-2" kern="0" dirty="0">
                <a:solidFill>
                  <a:srgbClr val="FFFFFF"/>
                </a:solidFill>
              </a:rPr>
              <a:t>Safeguarding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428625" y="3139678"/>
            <a:ext cx="345188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>
                    <a:alpha val="90000"/>
                  </a:srgbClr>
                </a:solidFill>
              </a:rPr>
              <a:t>Ensuring student wellbeing and access to learning is our primary focus.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166257" y="0"/>
            <a:ext cx="5314531" cy="514350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82" y="787598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3507" y="714375"/>
            <a:ext cx="1580108" cy="937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No-Exclusion Policy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5023507" y="1709142"/>
            <a:ext cx="1580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Students are supported to remain in education while families address head lice, following public health guidance.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66" y="78759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60841" y="714375"/>
            <a:ext cx="1791323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Safeguarding Principles</a:t>
            </a:r>
            <a:endParaRPr lang="en-US" sz="1602" dirty="0"/>
          </a:p>
        </p:txBody>
      </p:sp>
      <p:sp>
        <p:nvSpPr>
          <p:cNvPr id="13" name="Text 8"/>
          <p:cNvSpPr/>
          <p:nvPr/>
        </p:nvSpPr>
        <p:spPr>
          <a:xfrm>
            <a:off x="7260841" y="1396603"/>
            <a:ext cx="179132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Consistent operational procedures help staff respond calmly and professionally to protect pupil welfare.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82" y="3372743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6357" y="3299520"/>
            <a:ext cx="1637258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Maintaining Dignity</a:t>
            </a:r>
            <a:endParaRPr lang="en-US" sz="1602" dirty="0"/>
          </a:p>
        </p:txBody>
      </p:sp>
      <p:sp>
        <p:nvSpPr>
          <p:cNvPr id="16" name="Text 10"/>
          <p:cNvSpPr/>
          <p:nvPr/>
        </p:nvSpPr>
        <p:spPr>
          <a:xfrm>
            <a:off x="4966357" y="3981748"/>
            <a:ext cx="16372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Actions prioritise privacy and prevent stigmatization, preserving student dignity at all times.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478419" y="4864894"/>
            <a:ext cx="3236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>
                    <a:alpha val="60000"/>
                  </a:srgbClr>
                </a:solidFill>
              </a:rPr>
              <a:t>Version 1.0 | Issued: Feb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333006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642938" y="428625"/>
            <a:ext cx="428625" cy="4286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714375"/>
            <a:ext cx="2261443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Supporting Families: Practical Tools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2451646"/>
            <a:ext cx="22614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Empower parents with the right resources to manage head lice calmly and effectively within the framework.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04506" y="585788"/>
            <a:ext cx="4596557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3904506" y="58578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956" y="767953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7431" y="714375"/>
            <a:ext cx="38821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Free Scan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4447431" y="1005483"/>
            <a:ext cx="388218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Head Lice Checker provides an online AI triage tool for immediate, non-diagnostic feedback on scalp photos.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3904506" y="1662708"/>
            <a:ext cx="4596557" cy="934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904506" y="1662708"/>
            <a:ext cx="42863" cy="93404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956" y="1844873"/>
            <a:ext cx="150019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97425" y="1791295"/>
            <a:ext cx="39321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Clinic Finder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4397425" y="2082403"/>
            <a:ext cx="3932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Integrated search tool to help families find professional confirmation and treatment support near them.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3904506" y="2739628"/>
            <a:ext cx="4596557" cy="93404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3904506" y="2739628"/>
            <a:ext cx="42863" cy="934045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6" y="2921794"/>
            <a:ext cx="200025" cy="2000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47431" y="2868216"/>
            <a:ext cx="38821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Framework Toolkit</a:t>
            </a:r>
            <a:endParaRPr lang="en-US" sz="1193" dirty="0"/>
          </a:p>
        </p:txBody>
      </p:sp>
      <p:sp>
        <p:nvSpPr>
          <p:cNvPr id="21" name="Text 15"/>
          <p:cNvSpPr/>
          <p:nvPr/>
        </p:nvSpPr>
        <p:spPr>
          <a:xfrm>
            <a:off x="4447431" y="3159323"/>
            <a:ext cx="388218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Ready-to-use policy templates, parent notices, and trackers to maintain a consistent and professional school response.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18463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571500"/>
            <a:ext cx="785812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4353" b="1" spc="-3" kern="0" dirty="0">
                <a:solidFill>
                  <a:srgbClr val="FFFFFF"/>
                </a:solidFill>
              </a:rPr>
              <a:t>Next Steps</a:t>
            </a:r>
            <a:pPr algn="l" indent="0" marL="0">
              <a:lnSpc>
                <a:spcPts val="4300"/>
              </a:lnSpc>
              <a:buNone/>
            </a:pPr>
            <a:r>
              <a:rPr lang="en-US" sz="4353" b="1" spc="-3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300"/>
              </a:lnSpc>
              <a:buNone/>
            </a:pPr>
            <a:r>
              <a:rPr lang="en-US" sz="4353" b="1" spc="-3" kern="0" dirty="0">
                <a:solidFill>
                  <a:srgbClr val="FFFFFF"/>
                </a:solidFill>
              </a:rPr>
              <a:t>For Staff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642938" y="1937352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60000"/>
                  </a:srgbClr>
                </a:solidFill>
              </a:rPr>
              <a:t>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42938" y="2285609"/>
            <a:ext cx="2428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Review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42938" y="2644583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Familiarize yourself with The Head Lice School Response Framework™ and its standardized protocols.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3357563" y="1937352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60000"/>
                  </a:srgbClr>
                </a:solidFill>
              </a:rPr>
              <a:t>02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3357563" y="2285609"/>
            <a:ext cx="2428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Action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3357563" y="2644583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Report suspected cases to the school office using the Escalation Tracker immediately to ensure consistency.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6072188" y="1937352"/>
            <a:ext cx="2428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>
                    <a:alpha val="60000"/>
                  </a:srgbClr>
                </a:solidFill>
              </a:rPr>
              <a:t>03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6072188" y="2285609"/>
            <a:ext cx="24288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Direct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6072188" y="2644583"/>
            <a:ext cx="242887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Always point parents to the official resources and optional AI triage at headlicechecker.com.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7000875" y="0"/>
            <a:ext cx="2143125" cy="318463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0" y="3184634"/>
            <a:ext cx="9144000" cy="195886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3"/>
          <p:cNvSpPr/>
          <p:nvPr/>
        </p:nvSpPr>
        <p:spPr>
          <a:xfrm>
            <a:off x="642938" y="3613259"/>
            <a:ext cx="356481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8C42"/>
                </a:solidFill>
              </a:rPr>
              <a:t>Official Resources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642938" y="4018666"/>
            <a:ext cx="356481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headlicechecker.com</a:t>
            </a:r>
            <a:endParaRPr lang="en-US" sz="1602" dirty="0"/>
          </a:p>
        </p:txBody>
      </p:sp>
      <p:sp>
        <p:nvSpPr>
          <p:cNvPr id="18" name="Text 15"/>
          <p:cNvSpPr/>
          <p:nvPr/>
        </p:nvSpPr>
        <p:spPr>
          <a:xfrm>
            <a:off x="642938" y="4416930"/>
            <a:ext cx="356481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headlicechecker.com/for-schools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4890343" y="4722019"/>
            <a:ext cx="36107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FFFF">
                    <a:alpha val="40000"/>
                  </a:srgbClr>
                </a:solidFill>
              </a:rPr>
              <a:t>Version 1.0 | Issued: February 2026 | HeadLiceChecker.com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2026-02-23T17:49:07Z</dcterms:created>
  <dcterms:modified xsi:type="dcterms:W3CDTF">2026-02-23T17:49:07Z</dcterms:modified>
</cp:coreProperties>
</file>