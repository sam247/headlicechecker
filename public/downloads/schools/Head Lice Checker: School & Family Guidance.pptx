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1434498"/>
            <a:ext cx="45720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D3748"/>
                </a:solidFill>
              </a:rPr>
              <a:t>Head Lice Checker: School &amp; Family Guidance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642938" y="3114675"/>
            <a:ext cx="45720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4" dirty="0">
                <a:solidFill>
                  <a:srgbClr val="718096"/>
                </a:solidFill>
              </a:rPr>
              <a:t>Practical AI-powered triage and communication for schools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5643563" y="1143000"/>
            <a:ext cx="2857500" cy="28575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3" y="2390170"/>
            <a:ext cx="2286000" cy="363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8501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What is Head Lice Checker?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42938" y="1426964"/>
            <a:ext cx="3786188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744861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8688" y="2089547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Parent-First Guidance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928688" y="2409230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A calm, private, and parent-first approach to managing head lice concerns with clear next steps.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4714875" y="1426964"/>
            <a:ext cx="3786188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744861"/>
            <a:ext cx="128588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00625" y="2089547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AI-Powered Triage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5000625" y="2409230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A fast first check tool for itching, scalp irritation, or possible nits using advanced AI analysis.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642938" y="3141464"/>
            <a:ext cx="3786188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3459361"/>
            <a:ext cx="192881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8688" y="3804047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Indicative Screening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928688" y="4123730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Provides an indicative result to help families decide on next steps, not intended as a medical diagnosis.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714875" y="3141464"/>
            <a:ext cx="3786188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3459361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00625" y="3804047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Evidence-Led Results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5000625" y="4123730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Helps separate likely head lice activity from common lookalikes like dandruff or dry scalp flakes.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8501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How the AI Checker Works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071563" y="1855589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2098477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7116" y="2741414"/>
            <a:ext cx="7032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1. Capture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785813" y="3021806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Take a clear close-up photo in bright lighting.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2643188" y="1855589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75" y="2098477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76172" y="2741414"/>
            <a:ext cx="6483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2. Upload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2357438" y="3021806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Drop the photo into the free scan tool.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4214813" y="1855589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098477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228430" y="2741414"/>
            <a:ext cx="6871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3. Analyze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3929063" y="3021806"/>
            <a:ext cx="1285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AI processes image evidence to find indicators.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5786438" y="1855589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0" y="2098477"/>
            <a:ext cx="17145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852210" y="2741414"/>
            <a:ext cx="5828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4. Result</a:t>
            </a:r>
            <a:endParaRPr lang="en-US" sz="987" dirty="0"/>
          </a:p>
        </p:txBody>
      </p:sp>
      <p:sp>
        <p:nvSpPr>
          <p:cNvPr id="19" name="Text 12"/>
          <p:cNvSpPr/>
          <p:nvPr/>
        </p:nvSpPr>
        <p:spPr>
          <a:xfrm>
            <a:off x="5500688" y="3021806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Get an indicative result with home guidance.</a:t>
            </a:r>
            <a:endParaRPr lang="en-US" sz="834" dirty="0"/>
          </a:p>
        </p:txBody>
      </p:sp>
      <p:sp>
        <p:nvSpPr>
          <p:cNvPr id="20" name="Shape 13"/>
          <p:cNvSpPr/>
          <p:nvPr/>
        </p:nvSpPr>
        <p:spPr>
          <a:xfrm>
            <a:off x="7358063" y="1855589"/>
            <a:ext cx="714375" cy="71437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75" y="2098477"/>
            <a:ext cx="28575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59486" y="2741414"/>
            <a:ext cx="7115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5. Confirm</a:t>
            </a:r>
            <a:endParaRPr lang="en-US" sz="987" dirty="0"/>
          </a:p>
        </p:txBody>
      </p:sp>
      <p:sp>
        <p:nvSpPr>
          <p:cNvPr id="23" name="Text 15"/>
          <p:cNvSpPr/>
          <p:nvPr/>
        </p:nvSpPr>
        <p:spPr>
          <a:xfrm>
            <a:off x="7072313" y="3021806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Direct pathway to clinics for confirmation.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8501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Key Indicators: What to Look For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42938" y="1569839"/>
            <a:ext cx="342900" cy="342900"/>
          </a:xfrm>
          <a:prstGeom prst="ellipse">
            <a:avLst/>
          </a:prstGeom>
          <a:solidFill>
            <a:srgbClr val="FF8C42">
              <a:alpha val="1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669852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00138" y="1624310"/>
            <a:ext cx="6919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Live Lice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642938" y="2027039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Small moving insects that stay close to the scalp. Most commonly found near the nape of the neck or behind the ears.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4786313" y="1569839"/>
            <a:ext cx="342900" cy="342900"/>
          </a:xfrm>
          <a:prstGeom prst="ellipse">
            <a:avLst/>
          </a:prstGeom>
          <a:solidFill>
            <a:srgbClr val="FF8C42">
              <a:alpha val="1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184" y="1669852"/>
            <a:ext cx="107156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43513" y="1624310"/>
            <a:ext cx="8709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Nits (Eggs)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4786313" y="2027039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Oval-shaped and fixed to one side of the hair shaft. Unlike dandruff, they are difficult to flick away or slide off.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642938" y="3215692"/>
            <a:ext cx="342900" cy="342900"/>
          </a:xfrm>
          <a:prstGeom prst="ellipse">
            <a:avLst/>
          </a:prstGeom>
          <a:solidFill>
            <a:srgbClr val="FF8C42">
              <a:alpha val="10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315705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00138" y="3270163"/>
            <a:ext cx="8651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Lookalikes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642938" y="3672892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Dandruff and dry scalp flakes are usually irregular in shape and move easily when touched or brushed.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786313" y="3215692"/>
            <a:ext cx="342900" cy="342900"/>
          </a:xfrm>
          <a:prstGeom prst="ellipse">
            <a:avLst/>
          </a:prstGeom>
          <a:solidFill>
            <a:srgbClr val="FF8C42">
              <a:alpha val="10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5" y="3315705"/>
            <a:ext cx="142875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43513" y="3270163"/>
            <a:ext cx="147105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Symptom Context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4786313" y="3672892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Itching and redness are common signs but not definitive. Visual evidence is the most reliable indicator for triage.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8501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Benefits for Schools &amp; Childcare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42938" y="1569839"/>
            <a:ext cx="3312105" cy="1400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2D3748"/>
                </a:solidFill>
              </a:rPr>
              <a:t>Head Lice Checker provides a structured framework to manage outbreaks with confidence, clarity, and consistency across your entire team.</a:t>
            </a:r>
            <a:endParaRPr lang="en-US" sz="1486" dirty="0"/>
          </a:p>
        </p:txBody>
      </p:sp>
      <p:sp>
        <p:nvSpPr>
          <p:cNvPr id="5" name="Shape 2"/>
          <p:cNvSpPr/>
          <p:nvPr/>
        </p:nvSpPr>
        <p:spPr>
          <a:xfrm>
            <a:off x="4526542" y="1426964"/>
            <a:ext cx="400050" cy="4000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270" y="1555552"/>
            <a:ext cx="17859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98042" y="1455539"/>
            <a:ext cx="34030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Consistent Communication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5098042" y="1727002"/>
            <a:ext cx="340302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Repeatable guidance and standardized language reduce mixed messaging and parent confusion.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526542" y="2341364"/>
            <a:ext cx="400050" cy="4000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270" y="2469952"/>
            <a:ext cx="17859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98042" y="2369939"/>
            <a:ext cx="34030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Non-Diagnostic Support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5098042" y="2641402"/>
            <a:ext cx="340302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Empowers families with practical home-check instructions without making medical claims.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4526542" y="3255764"/>
            <a:ext cx="400050" cy="4000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30" y="3384352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98042" y="3284339"/>
            <a:ext cx="34030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Faster Escalation</a:t>
            </a:r>
            <a:endParaRPr lang="en-US" sz="1090" dirty="0"/>
          </a:p>
        </p:txBody>
      </p:sp>
      <p:sp>
        <p:nvSpPr>
          <p:cNvPr id="16" name="Text 10"/>
          <p:cNvSpPr/>
          <p:nvPr/>
        </p:nvSpPr>
        <p:spPr>
          <a:xfrm>
            <a:off x="5098042" y="3555802"/>
            <a:ext cx="340302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Routes persistent symptoms or uncertain cases to professional clinic support sooner.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4526542" y="4170164"/>
            <a:ext cx="400050" cy="4000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130" y="4298752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98042" y="4198739"/>
            <a:ext cx="34030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Operational Tools</a:t>
            </a:r>
            <a:endParaRPr lang="en-US" sz="1090" dirty="0"/>
          </a:p>
        </p:txBody>
      </p:sp>
      <p:sp>
        <p:nvSpPr>
          <p:cNvPr id="20" name="Text 13"/>
          <p:cNvSpPr/>
          <p:nvPr/>
        </p:nvSpPr>
        <p:spPr>
          <a:xfrm>
            <a:off x="5098042" y="4470202"/>
            <a:ext cx="340302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Ready-to-use templates for school policies, parent notices, and outbreak tracking.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8501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The School Response Playbook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315343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0113" y="1284089"/>
            <a:ext cx="11391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Core Principle</a:t>
            </a:r>
            <a:endParaRPr lang="en-US" sz="1193" dirty="0"/>
          </a:p>
        </p:txBody>
      </p:sp>
      <p:sp>
        <p:nvSpPr>
          <p:cNvPr id="6" name="Shape 2"/>
          <p:cNvSpPr/>
          <p:nvPr/>
        </p:nvSpPr>
        <p:spPr>
          <a:xfrm>
            <a:off x="642938" y="1689497"/>
            <a:ext cx="2914650" cy="107156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Text 3"/>
          <p:cNvSpPr/>
          <p:nvPr/>
        </p:nvSpPr>
        <p:spPr>
          <a:xfrm>
            <a:off x="857250" y="1903809"/>
            <a:ext cx="248602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718096"/>
                </a:solidFill>
              </a:rPr>
              <a:t>Neutral Language: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 Use calm, non-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alarmist wording in all communications.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Focus on action: tell families </a:t>
            </a:r>
            <a:pPr algn="l" indent="0" marL="0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718096"/>
                </a:solidFill>
              </a:rPr>
              <a:t>what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 to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check and </a:t>
            </a:r>
            <a:pPr algn="l" indent="0" marL="0">
              <a:lnSpc>
                <a:spcPts val="1600"/>
              </a:lnSpc>
              <a:buNone/>
            </a:pPr>
            <a:r>
              <a:rPr lang="en-US" sz="942" i="1" dirty="0">
                <a:solidFill>
                  <a:srgbClr val="718096"/>
                </a:solidFill>
              </a:rPr>
              <a:t>how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 to check.</a:t>
            </a:r>
            <a:endParaRPr lang="en-US" sz="88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088" y="1315343"/>
            <a:ext cx="150019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64831" y="1284089"/>
            <a:ext cx="16356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Three-Step Cadence</a:t>
            </a:r>
            <a:endParaRPr lang="en-US" sz="1193" dirty="0"/>
          </a:p>
        </p:txBody>
      </p:sp>
      <p:sp>
        <p:nvSpPr>
          <p:cNvPr id="10" name="Shape 5"/>
          <p:cNvSpPr/>
          <p:nvPr/>
        </p:nvSpPr>
        <p:spPr>
          <a:xfrm>
            <a:off x="4129088" y="1732359"/>
            <a:ext cx="342900" cy="3429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FF8C42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129088" y="1732359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8C42"/>
                </a:solidFill>
              </a:rPr>
              <a:t>1</a:t>
            </a:r>
            <a:endParaRPr lang="en-US" sz="784" dirty="0"/>
          </a:p>
        </p:txBody>
      </p:sp>
      <p:sp>
        <p:nvSpPr>
          <p:cNvPr id="12" name="Text 7"/>
          <p:cNvSpPr/>
          <p:nvPr/>
        </p:nvSpPr>
        <p:spPr>
          <a:xfrm>
            <a:off x="4643438" y="1732359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Notice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4643438" y="1984177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Issue a same-day neutral update to parents as soon as exposure is identified.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4129088" y="2541389"/>
            <a:ext cx="342900" cy="3429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FF8C4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129088" y="2541389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8C42"/>
                </a:solidFill>
              </a:rPr>
              <a:t>2</a:t>
            </a:r>
            <a:endParaRPr lang="en-US" sz="784" dirty="0"/>
          </a:p>
        </p:txBody>
      </p:sp>
      <p:sp>
        <p:nvSpPr>
          <p:cNvPr id="16" name="Text 11"/>
          <p:cNvSpPr/>
          <p:nvPr/>
        </p:nvSpPr>
        <p:spPr>
          <a:xfrm>
            <a:off x="4643438" y="2541389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Reminder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4643438" y="2793206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Schedule one clear follow-up window to ensure checks are being completed.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4129088" y="3350419"/>
            <a:ext cx="342900" cy="3429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FF8C4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129088" y="3350419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8C42"/>
                </a:solidFill>
              </a:rPr>
              <a:t>3</a:t>
            </a:r>
            <a:endParaRPr lang="en-US" sz="784" dirty="0"/>
          </a:p>
        </p:txBody>
      </p:sp>
      <p:sp>
        <p:nvSpPr>
          <p:cNvPr id="20" name="Text 15"/>
          <p:cNvSpPr/>
          <p:nvPr/>
        </p:nvSpPr>
        <p:spPr>
          <a:xfrm>
            <a:off x="4643438" y="3350419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</a:rPr>
              <a:t>Escalation</a:t>
            </a:r>
            <a:endParaRPr lang="en-US" sz="987" dirty="0"/>
          </a:p>
        </p:txBody>
      </p:sp>
      <p:sp>
        <p:nvSpPr>
          <p:cNvPr id="21" name="Text 16"/>
          <p:cNvSpPr/>
          <p:nvPr/>
        </p:nvSpPr>
        <p:spPr>
          <a:xfrm>
            <a:off x="4643438" y="3602236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Use standardized wording for clinic referrals if indicators repeat or uncertainty persists.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8501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Best Practices for Families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42938" y="1569839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177" y="1755577"/>
            <a:ext cx="175022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85888" y="1569839"/>
            <a:ext cx="29718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Check Regularly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1385888" y="1889522"/>
            <a:ext cx="29718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Run consistent checks every few days during active exposure periods to catch changes early.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4786313" y="1569839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053" y="1755577"/>
            <a:ext cx="150019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29263" y="1569839"/>
            <a:ext cx="29718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Quality Matters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5529263" y="1889522"/>
            <a:ext cx="29718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Use bright light and part hair to show the roots clearly for the most accurate AI scan results.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642938" y="2872457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3058195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85888" y="2872457"/>
            <a:ext cx="29718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Stay Calm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1385888" y="3192140"/>
            <a:ext cx="29718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Most scares can be managed with a structured, evidence-led process rather than guesswork.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786313" y="2872457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552" y="3058195"/>
            <a:ext cx="175022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29263" y="2872457"/>
            <a:ext cx="29718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Seek Help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5529263" y="3192140"/>
            <a:ext cx="29718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Use the clinic finder promptly if indicators repeat or if you remain uncertain after scanning.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8501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Next Steps &amp; Resources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642938" y="1426964"/>
            <a:ext cx="3786188" cy="1407988"/>
          </a:xfrm>
          <a:prstGeom prst="rect">
            <a:avLst/>
          </a:prstGeom>
          <a:solidFill>
            <a:srgbClr val="FFFFFF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744861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8688" y="2089547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Start a Scan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928688" y="2409230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Visit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718096"/>
                </a:solidFill>
              </a:rPr>
              <a:t>headlicechecker.com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 to begin a free, private AI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check for your family.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4714875" y="1426964"/>
            <a:ext cx="3786188" cy="1407988"/>
          </a:xfrm>
          <a:prstGeom prst="rect">
            <a:avLst/>
          </a:prstGeom>
          <a:solidFill>
            <a:srgbClr val="FFFFFF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744861"/>
            <a:ext cx="128588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00625" y="2089547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Find a Clinic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5000625" y="2409230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Use our clinic finder to locate professional support and confirmation near you.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642938" y="3106415"/>
            <a:ext cx="3786188" cy="1407988"/>
          </a:xfrm>
          <a:prstGeom prst="rect">
            <a:avLst/>
          </a:prstGeom>
          <a:solidFill>
            <a:srgbClr val="FFFFFF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3424312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8688" y="3768998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Download Toolkit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928688" y="4088681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Access editable policy templates, parent notices, and escalation trackers for schools.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714875" y="3106415"/>
            <a:ext cx="3786188" cy="1407988"/>
          </a:xfrm>
          <a:prstGeom prst="rect">
            <a:avLst/>
          </a:prstGeom>
          <a:solidFill>
            <a:srgbClr val="FFFFFF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3424312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00625" y="3768998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Learn More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5000625" y="4088681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Review our Methodology, Clinical Safety, and Editorial Policy for full transparency.</a:t>
            </a:r>
            <a:endParaRPr lang="en-US" sz="942" dirty="0"/>
          </a:p>
        </p:txBody>
      </p:sp>
      <p:sp>
        <p:nvSpPr>
          <p:cNvPr id="20" name="Text 13"/>
          <p:cNvSpPr/>
          <p:nvPr/>
        </p:nvSpPr>
        <p:spPr>
          <a:xfrm>
            <a:off x="4005104" y="4928741"/>
            <a:ext cx="11337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A0AEC0"/>
                </a:solidFill>
              </a:rPr>
              <a:t>headlicechecker.com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2026-02-23T15:48:01Z</dcterms:created>
  <dcterms:modified xsi:type="dcterms:W3CDTF">2026-02-23T15:48:01Z</dcterms:modified>
</cp:coreProperties>
</file>